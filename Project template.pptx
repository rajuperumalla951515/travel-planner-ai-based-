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s.generativeai.google/" TargetMode="External"/><Relationship Id="rId7" Type="http://schemas.openxmlformats.org/officeDocument/2006/relationships/hyperlink" Target="https://www.kaggle.com/" TargetMode="External"/><Relationship Id="rId2" Type="http://schemas.openxmlformats.org/officeDocument/2006/relationships/hyperlink" Target="https://docs.streamlit.io/" TargetMode="External"/><Relationship Id="rId1" Type="http://schemas.openxmlformats.org/officeDocument/2006/relationships/slideLayout" Target="../slideLayouts/slideLayout2.xml"/><Relationship Id="rId6" Type="http://schemas.openxmlformats.org/officeDocument/2006/relationships/hyperlink" Target="https://matplotlib.org/stable/" TargetMode="External"/><Relationship Id="rId5" Type="http://schemas.openxmlformats.org/officeDocument/2006/relationships/hyperlink" Target="https://pandas.pydata.org/" TargetMode="External"/><Relationship Id="rId4" Type="http://schemas.openxmlformats.org/officeDocument/2006/relationships/hyperlink" Target="https://docs.python.org/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1335627" y="4058588"/>
            <a:ext cx="9520746"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RAJESHWARI KOTOJU </a:t>
            </a:r>
          </a:p>
          <a:p>
            <a:pPr marL="457200" indent="-457200">
              <a:buAutoNum type="arabicPeriod"/>
            </a:pPr>
            <a:r>
              <a:rPr lang="en-US" sz="2000" b="1" dirty="0">
                <a:solidFill>
                  <a:schemeClr val="accent1">
                    <a:lumMod val="75000"/>
                  </a:schemeClr>
                </a:solidFill>
                <a:latin typeface="Arial"/>
                <a:cs typeface="Arial"/>
              </a:rPr>
              <a:t>College Name-  KOMMURI PRATAP REDDY INSTITUTE OF TECHNOLOGY</a:t>
            </a:r>
          </a:p>
          <a:p>
            <a:pPr marL="457200" indent="-457200">
              <a:buAutoNum type="arabicPeriod"/>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81192" y="967304"/>
            <a:ext cx="10776619" cy="2048612"/>
          </a:xfrm>
        </p:spPr>
        <p:txBody>
          <a:bodyPr>
            <a:normAutofit/>
          </a:bodyPr>
          <a:lstStyle/>
          <a:p>
            <a:pPr marL="0" indent="0">
              <a:buNone/>
            </a:pPr>
            <a:r>
              <a:rPr lang="en-US" sz="1400" dirty="0"/>
              <a:t>Travel planning for students in India is often difficult due to budget constraints, lack of accurate travel information, and safety concerns. Students usually depend on multiple online sources such as blogs, videos, and travel websites, which provide scattered, outdated, or non-student-oriented information. This makes it hard to estimate travel costs, choose suitable destinations, and plan trips within limited time and money. Additionally, limited awareness of local conditions, transportation options, and risks increases uncertainty and stress while planning trips. As a result, students spend significant time researching yet still struggle to create organized, affordable, and safe travel plans.</a:t>
            </a:r>
            <a:endParaRPr lang="en-IN" sz="1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Box 2">
            <a:extLst>
              <a:ext uri="{FF2B5EF4-FFF2-40B4-BE49-F238E27FC236}">
                <a16:creationId xmlns:a16="http://schemas.microsoft.com/office/drawing/2014/main" id="{03850B39-453C-EE2E-9362-E2043EDF4B7A}"/>
              </a:ext>
            </a:extLst>
          </p:cNvPr>
          <p:cNvSpPr txBox="1"/>
          <p:nvPr/>
        </p:nvSpPr>
        <p:spPr>
          <a:xfrm>
            <a:off x="581191" y="1433008"/>
            <a:ext cx="11029615" cy="2031325"/>
          </a:xfrm>
          <a:prstGeom prst="rect">
            <a:avLst/>
          </a:prstGeom>
          <a:noFill/>
        </p:spPr>
        <p:txBody>
          <a:bodyPr wrap="square" rtlCol="0">
            <a:spAutoFit/>
          </a:bodyPr>
          <a:lstStyle/>
          <a:p>
            <a:r>
              <a:rPr lang="en-US" dirty="0"/>
              <a:t>To address these challenges, an AI-based Student Travel Planner is proposed that provides a single, reliable platform for planning student-friendly trips across India. The system collects user inputs such as budget, starting location, travel preferences, and duration, and processes them using Generative AI to create personalized travel itineraries. It analyzes travel costs, suggests affordable transportation and accommodation options, and highlights safety and risk considerations for each destination. By integrating real travel data and intelligent recommendations, the proposed solution simplifies decision-making, reduces planning time, and helps students travel efficiently within their budget.</a:t>
            </a: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597887"/>
            <a:ext cx="11029616" cy="627065"/>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1224952"/>
            <a:ext cx="9573462" cy="5035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sz="1200" b="1" dirty="0">
                <a:latin typeface="Arial" panose="020B0604020202020204" pitchFamily="34" charset="0"/>
                <a:cs typeface="Arial" panose="020B0604020202020204" pitchFamily="34" charset="0"/>
              </a:rPr>
              <a:t> Input (</a:t>
            </a:r>
            <a:r>
              <a:rPr lang="en-US" sz="1200" b="1" dirty="0" err="1">
                <a:latin typeface="Arial" panose="020B0604020202020204" pitchFamily="34" charset="0"/>
                <a:cs typeface="Arial" panose="020B0604020202020204" pitchFamily="34" charset="0"/>
              </a:rPr>
              <a:t>Streamlit</a:t>
            </a:r>
            <a:r>
              <a:rPr lang="en-US" sz="1200" b="1" dirty="0">
                <a:latin typeface="Arial" panose="020B0604020202020204" pitchFamily="34" charset="0"/>
                <a:cs typeface="Arial" panose="020B0604020202020204" pitchFamily="34" charset="0"/>
              </a:rPr>
              <a:t>)</a:t>
            </a:r>
          </a:p>
          <a:p>
            <a:pPr marL="0" indent="0">
              <a:buNone/>
            </a:pPr>
            <a:r>
              <a:rPr lang="en-US" sz="1200" dirty="0">
                <a:latin typeface="Arial" panose="020B0604020202020204" pitchFamily="34" charset="0"/>
                <a:cs typeface="Arial" panose="020B0604020202020204" pitchFamily="34" charset="0"/>
              </a:rPr>
              <a:t>	Collects student travel details such as budget, location, duration, and preferences using </a:t>
            </a:r>
            <a:r>
              <a:rPr lang="en-US" sz="1200" dirty="0" err="1">
                <a:latin typeface="Arial" panose="020B0604020202020204" pitchFamily="34" charset="0"/>
                <a:cs typeface="Arial" panose="020B0604020202020204" pitchFamily="34" charset="0"/>
              </a:rPr>
              <a:t>Streamlit</a:t>
            </a:r>
            <a:r>
              <a:rPr lang="en-US" sz="1200" dirty="0">
                <a:latin typeface="Arial" panose="020B0604020202020204" pitchFamily="34" charset="0"/>
                <a:cs typeface="Arial" panose="020B0604020202020204" pitchFamily="34" charset="0"/>
              </a:rPr>
              <a:t> forms and widgets.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 Student Profile Creation (Session State)</a:t>
            </a:r>
          </a:p>
          <a:p>
            <a:pPr marL="0" indent="0">
              <a:buNone/>
            </a:pPr>
            <a:r>
              <a:rPr lang="en-US" sz="1200" dirty="0">
                <a:latin typeface="Arial" panose="020B0604020202020204" pitchFamily="34" charset="0"/>
                <a:cs typeface="Arial" panose="020B0604020202020204" pitchFamily="34" charset="0"/>
              </a:rPr>
              <a:t>	Stores and manages user inputs using </a:t>
            </a:r>
            <a:r>
              <a:rPr lang="en-US" sz="1200" dirty="0" err="1">
                <a:latin typeface="Arial" panose="020B0604020202020204" pitchFamily="34" charset="0"/>
                <a:cs typeface="Arial" panose="020B0604020202020204" pitchFamily="34" charset="0"/>
              </a:rPr>
              <a:t>Streamlit</a:t>
            </a:r>
            <a:r>
              <a:rPr lang="en-US" sz="1200" dirty="0">
                <a:latin typeface="Arial" panose="020B0604020202020204" pitchFamily="34" charset="0"/>
                <a:cs typeface="Arial" panose="020B0604020202020204" pitchFamily="34" charset="0"/>
              </a:rPr>
              <a:t> session state for personalized planning.</a:t>
            </a:r>
          </a:p>
          <a:p>
            <a:pPr>
              <a:buFont typeface="Arial" panose="020B0604020202020204" pitchFamily="34" charset="0"/>
              <a:buChar char="•"/>
            </a:pPr>
            <a:r>
              <a:rPr lang="en-IN" sz="1200" b="1" dirty="0">
                <a:latin typeface="Arial" panose="020B0604020202020204" pitchFamily="34" charset="0"/>
                <a:cs typeface="Arial" panose="020B0604020202020204" pitchFamily="34" charset="0"/>
              </a:rPr>
              <a:t> Dataset Integration (Kaggle + Pandas)</a:t>
            </a:r>
          </a:p>
          <a:p>
            <a:pPr marL="0" indent="0">
              <a:buNone/>
            </a:pPr>
            <a:r>
              <a:rPr lang="en-IN" sz="1200" dirty="0">
                <a:latin typeface="Arial" panose="020B0604020202020204" pitchFamily="34" charset="0"/>
                <a:cs typeface="Arial" panose="020B0604020202020204" pitchFamily="34" charset="0"/>
              </a:rPr>
              <a:t>	Processes Indian travel datasets from Kaggle using Pandas for structured data handling.</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 Prompt Engineering (Python)</a:t>
            </a:r>
          </a:p>
          <a:p>
            <a:pPr marL="0" indent="0">
              <a:buNone/>
            </a:pPr>
            <a:r>
              <a:rPr lang="en-US" sz="1200" dirty="0">
                <a:latin typeface="Arial" panose="020B0604020202020204" pitchFamily="34" charset="0"/>
                <a:cs typeface="Arial" panose="020B0604020202020204" pitchFamily="34" charset="0"/>
              </a:rPr>
              <a:t>	Formats user profile and dataset insights into structured prompts using Python logic.</a:t>
            </a:r>
          </a:p>
          <a:p>
            <a:pPr>
              <a:buFont typeface="Arial" panose="020B0604020202020204" pitchFamily="34" charset="0"/>
              <a:buChar char="•"/>
            </a:pPr>
            <a:r>
              <a:rPr lang="en-IN" sz="1200" b="1" dirty="0">
                <a:latin typeface="Arial" panose="020B0604020202020204" pitchFamily="34" charset="0"/>
                <a:cs typeface="Arial" panose="020B0604020202020204" pitchFamily="34" charset="0"/>
              </a:rPr>
              <a:t> AI Processing (Google Gemini AI)</a:t>
            </a:r>
          </a:p>
          <a:p>
            <a:pPr marL="0" indent="0">
              <a:buNone/>
            </a:pPr>
            <a:r>
              <a:rPr lang="en-IN" sz="1200" dirty="0">
                <a:latin typeface="Arial" panose="020B0604020202020204" pitchFamily="34" charset="0"/>
                <a:cs typeface="Arial" panose="020B0604020202020204" pitchFamily="34" charset="0"/>
              </a:rPr>
              <a:t>	Generates itineraries, budget analysis, and safety guidance through Gemini AI APIs.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 Budget &amp; Risk Analysis (Python + AI)</a:t>
            </a:r>
          </a:p>
          <a:p>
            <a:pPr marL="0" indent="0">
              <a:buNone/>
            </a:pPr>
            <a:r>
              <a:rPr lang="en-US" sz="1200" dirty="0">
                <a:latin typeface="Arial" panose="020B0604020202020204" pitchFamily="34" charset="0"/>
                <a:cs typeface="Arial" panose="020B0604020202020204" pitchFamily="34" charset="0"/>
              </a:rPr>
              <a:t>	Analyzes travel costs and safety factors using AI reasoning and Python computations.</a:t>
            </a:r>
          </a:p>
          <a:p>
            <a:pPr>
              <a:buFont typeface="Arial" panose="020B0604020202020204" pitchFamily="34" charset="0"/>
              <a:buChar char="•"/>
            </a:pPr>
            <a:r>
              <a:rPr lang="en-IN" sz="1200" b="1" dirty="0">
                <a:latin typeface="Arial" panose="020B0604020202020204" pitchFamily="34" charset="0"/>
                <a:cs typeface="Arial" panose="020B0604020202020204" pitchFamily="34" charset="0"/>
              </a:rPr>
              <a:t> Data Visualization (Matplotlib)</a:t>
            </a:r>
          </a:p>
          <a:p>
            <a:pPr marL="0" indent="0">
              <a:buNone/>
            </a:pPr>
            <a:r>
              <a:rPr lang="en-IN" sz="1200" dirty="0">
                <a:latin typeface="Arial" panose="020B0604020202020204" pitchFamily="34" charset="0"/>
                <a:cs typeface="Arial" panose="020B0604020202020204" pitchFamily="34" charset="0"/>
              </a:rPr>
              <a:t>	Visualizes budget breakdowns and travel statistics using Matplotlib charts.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 Output (</a:t>
            </a:r>
            <a:r>
              <a:rPr lang="en-US" sz="1200" b="1" dirty="0" err="1">
                <a:latin typeface="Arial" panose="020B0604020202020204" pitchFamily="34" charset="0"/>
                <a:cs typeface="Arial" panose="020B0604020202020204" pitchFamily="34" charset="0"/>
              </a:rPr>
              <a:t>Streamlit</a:t>
            </a:r>
            <a:r>
              <a:rPr lang="en-US" sz="1200" b="1" dirty="0">
                <a:latin typeface="Arial" panose="020B0604020202020204" pitchFamily="34" charset="0"/>
                <a:cs typeface="Arial" panose="020B0604020202020204" pitchFamily="34" charset="0"/>
              </a:rPr>
              <a:t> UI)</a:t>
            </a:r>
          </a:p>
          <a:p>
            <a:pPr marL="0" indent="0">
              <a:buNone/>
            </a:pPr>
            <a:r>
              <a:rPr lang="en-US" sz="1200" dirty="0">
                <a:latin typeface="Arial" panose="020B0604020202020204" pitchFamily="34" charset="0"/>
                <a:cs typeface="Arial" panose="020B0604020202020204" pitchFamily="34" charset="0"/>
              </a:rPr>
              <a:t>	Displays results in a clean, interactive </a:t>
            </a:r>
            <a:r>
              <a:rPr lang="en-US" sz="1200" dirty="0" err="1">
                <a:latin typeface="Arial" panose="020B0604020202020204" pitchFamily="34" charset="0"/>
                <a:cs typeface="Arial" panose="020B0604020202020204" pitchFamily="34" charset="0"/>
              </a:rPr>
              <a:t>Streamlit</a:t>
            </a:r>
            <a:r>
              <a:rPr lang="en-US" sz="1200" dirty="0">
                <a:latin typeface="Arial" panose="020B0604020202020204" pitchFamily="34" charset="0"/>
                <a:cs typeface="Arial" panose="020B0604020202020204" pitchFamily="34" charset="0"/>
              </a:rPr>
              <a:t> web interface.</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1396766"/>
            <a:ext cx="1102961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None/>
            </a:pPr>
            <a:r>
              <a:rPr lang="en-US" sz="1800" dirty="0"/>
              <a:t>The system begins by collecting student travel details such as budget, starting location, duration, and preferences through a </a:t>
            </a:r>
            <a:r>
              <a:rPr lang="en-US" sz="1800" dirty="0" err="1"/>
              <a:t>Streamlit</a:t>
            </a:r>
            <a:r>
              <a:rPr lang="en-US" sz="1800" dirty="0"/>
              <a:t>-based interface. These inputs are organized into a structured student profile using session state. Relevant Indian travel data from Kaggle datasets is processed using Pandas and combined with user inputs through prompt engineering. Google Gemini AI then analyzes this information to generate personalized travel itineraries, budget estimations, and safety recommendations. The results are refined using Python logic and visualized with charts and tables. The complete application is deployed as a single </a:t>
            </a:r>
            <a:r>
              <a:rPr lang="en-US" sz="1800" dirty="0" err="1"/>
              <a:t>Streamlit</a:t>
            </a:r>
            <a:r>
              <a:rPr lang="en-US" sz="1800" dirty="0"/>
              <a:t> web app, with environment variables managed securely through a </a:t>
            </a:r>
            <a:r>
              <a:rPr lang="en-US" dirty="0"/>
              <a:t>.env</a:t>
            </a:r>
            <a:r>
              <a:rPr lang="en-US" sz="1800" dirty="0"/>
              <a:t> file, providing users with real-time, accessible, and student-friendly travel planning outputs.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581192" y="1384681"/>
            <a:ext cx="471047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Screenshot of you</a:t>
            </a:r>
            <a:r>
              <a:rPr lang="en-US" altLang="en-US" sz="1600" dirty="0">
                <a:solidFill>
                  <a:schemeClr val="tx1"/>
                </a:solidFill>
                <a:latin typeface="Arial" panose="020B0604020202020204" pitchFamily="34" charset="0"/>
              </a:rPr>
              <a:t>r </a:t>
            </a:r>
            <a:r>
              <a:rPr kumimoji="0" lang="en-US" altLang="en-US" sz="1600" b="0" i="0" u="none" strike="noStrike" cap="none" normalizeH="0" baseline="0" dirty="0">
                <a:ln>
                  <a:noFill/>
                </a:ln>
                <a:solidFill>
                  <a:schemeClr val="tx1"/>
                </a:solidFill>
                <a:effectLst/>
                <a:latin typeface="Arial" panose="020B0604020202020204" pitchFamily="34" charset="0"/>
              </a:rPr>
              <a:t>project , like how you give input and how the result will be</a:t>
            </a: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1302026"/>
            <a:ext cx="11029615" cy="2660374"/>
          </a:xfrm>
        </p:spPr>
        <p:txBody>
          <a:bodyPr>
            <a:normAutofit/>
          </a:bodyPr>
          <a:lstStyle/>
          <a:p>
            <a:pPr marL="0" indent="0">
              <a:buNone/>
            </a:pPr>
            <a:r>
              <a:rPr lang="en-US" sz="2000" dirty="0"/>
              <a:t>The AI Student Travel Planner successfully simplifies travel planning for students by combining Generative AI with real-world travel data to deliver personalized, budget-friendly, and safe travel recommendations. By integrating user profiles, Kaggle datasets, and Google Gemini AI within a </a:t>
            </a:r>
            <a:r>
              <a:rPr lang="en-US" sz="2000" dirty="0" err="1"/>
              <a:t>Streamlit</a:t>
            </a:r>
            <a:r>
              <a:rPr lang="en-US" sz="2000" dirty="0"/>
              <a:t> application, the system reduces manual research and improves decision-making. The project demonstrates how AI can be effectively applied to solve real-life student problems, promote educational and cultural tourism, and provide an efficient, user-friendly travel planning solution suitable for academic and practical use.</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6" name="TextBox 5">
            <a:extLst>
              <a:ext uri="{FF2B5EF4-FFF2-40B4-BE49-F238E27FC236}">
                <a16:creationId xmlns:a16="http://schemas.microsoft.com/office/drawing/2014/main" id="{AA999CFA-9AD9-6EBF-4078-4CBC7CBB2975}"/>
              </a:ext>
            </a:extLst>
          </p:cNvPr>
          <p:cNvSpPr txBox="1"/>
          <p:nvPr/>
        </p:nvSpPr>
        <p:spPr>
          <a:xfrm>
            <a:off x="535669" y="1542508"/>
            <a:ext cx="11029615" cy="2031325"/>
          </a:xfrm>
          <a:prstGeom prst="rect">
            <a:avLst/>
          </a:prstGeom>
          <a:noFill/>
        </p:spPr>
        <p:txBody>
          <a:bodyPr wrap="square">
            <a:spAutoFit/>
          </a:bodyPr>
          <a:lstStyle/>
          <a:p>
            <a:r>
              <a:rPr lang="en-US" dirty="0"/>
              <a:t>In the future, the AI Student Travel Planner can be enhanced by integrating real-time services such as Google Maps for live route navigation, distance calculation, and location-based suggestions. Weather APIs can be added to provide climate-aware travel planning and risk alerts. The system can be expanded to include hotel and transportation booking recommendations, PDF itinerary export, and trip history management through user authentication. Further improvements may involve mobile app development, multilingual support for regional users, and advanced AI models for more accurate cost prediction and safety analysis, making the platform more scalable and practical for real-world deployment.</a:t>
            </a:r>
            <a:endParaRPr lang="en-IN" sz="1800" dirty="0"/>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9" name="TextBox 8">
            <a:extLst>
              <a:ext uri="{FF2B5EF4-FFF2-40B4-BE49-F238E27FC236}">
                <a16:creationId xmlns:a16="http://schemas.microsoft.com/office/drawing/2014/main" id="{9EC3E64F-C34D-81FA-898D-38A49CE192C7}"/>
              </a:ext>
            </a:extLst>
          </p:cNvPr>
          <p:cNvSpPr txBox="1"/>
          <p:nvPr/>
        </p:nvSpPr>
        <p:spPr>
          <a:xfrm>
            <a:off x="3716866" y="4778402"/>
            <a:ext cx="6096000" cy="369332"/>
          </a:xfrm>
          <a:prstGeom prst="rect">
            <a:avLst/>
          </a:prstGeom>
          <a:noFill/>
        </p:spPr>
        <p:txBody>
          <a:bodyPr wrap="square">
            <a:spAutoFit/>
          </a:bodyPr>
          <a:lstStyle/>
          <a:p>
            <a:r>
              <a:rPr lang="en-IN" dirty="0"/>
              <a:t>  </a:t>
            </a:r>
          </a:p>
        </p:txBody>
      </p:sp>
      <p:sp>
        <p:nvSpPr>
          <p:cNvPr id="12" name="TextBox 11">
            <a:extLst>
              <a:ext uri="{FF2B5EF4-FFF2-40B4-BE49-F238E27FC236}">
                <a16:creationId xmlns:a16="http://schemas.microsoft.com/office/drawing/2014/main" id="{17146A50-6158-D2A8-555B-8DE810D99E6F}"/>
              </a:ext>
            </a:extLst>
          </p:cNvPr>
          <p:cNvSpPr txBox="1"/>
          <p:nvPr/>
        </p:nvSpPr>
        <p:spPr>
          <a:xfrm>
            <a:off x="581192" y="1375571"/>
            <a:ext cx="9095111" cy="2949525"/>
          </a:xfrm>
          <a:prstGeom prst="rect">
            <a:avLst/>
          </a:prstGeom>
          <a:noFill/>
        </p:spPr>
        <p:txBody>
          <a:bodyPr wrap="square">
            <a:spAutoFit/>
          </a:bodyPr>
          <a:lstStyle/>
          <a:p>
            <a:pPr lvl="0" eaLnBrk="0" fontAlgn="base" hangingPunct="0">
              <a:lnSpc>
                <a:spcPct val="150000"/>
              </a:lnSpc>
              <a:spcBef>
                <a:spcPct val="0"/>
              </a:spcBef>
              <a:spcAft>
                <a:spcPct val="0"/>
              </a:spcAft>
              <a:buFontTx/>
              <a:buChar char="•"/>
            </a:pPr>
            <a:r>
              <a:rPr lang="en-US" altLang="en-US" b="1" dirty="0" err="1">
                <a:latin typeface="Arial" panose="020B0604020202020204" pitchFamily="34" charset="0"/>
              </a:rPr>
              <a:t>Streamlit</a:t>
            </a:r>
            <a:r>
              <a:rPr lang="en-US" altLang="en-US" b="1" dirty="0">
                <a:latin typeface="Arial" panose="020B0604020202020204" pitchFamily="34" charset="0"/>
              </a:rPr>
              <a:t> Documentation</a:t>
            </a:r>
            <a:r>
              <a:rPr lang="en-US" altLang="en-US" dirty="0">
                <a:latin typeface="Arial" panose="020B0604020202020204" pitchFamily="34" charset="0"/>
              </a:rPr>
              <a:t> – </a:t>
            </a:r>
            <a:r>
              <a:rPr lang="en-US" altLang="en-US" dirty="0">
                <a:latin typeface="Arial" panose="020B0604020202020204" pitchFamily="34" charset="0"/>
                <a:hlinkClick r:id="rId2"/>
              </a:rPr>
              <a:t>https://docs.streamlit.io/</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Google Gemini AI Documentation</a:t>
            </a:r>
            <a:r>
              <a:rPr lang="en-US" altLang="en-US" dirty="0">
                <a:latin typeface="Arial" panose="020B0604020202020204" pitchFamily="34" charset="0"/>
              </a:rPr>
              <a:t> – </a:t>
            </a:r>
            <a:r>
              <a:rPr lang="en-US" altLang="en-US" dirty="0">
                <a:latin typeface="Arial" panose="020B0604020202020204" pitchFamily="34" charset="0"/>
                <a:hlinkClick r:id="rId3"/>
              </a:rPr>
              <a:t>https://developers.generativeai.google/</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Python Official Documentation</a:t>
            </a:r>
            <a:r>
              <a:rPr lang="en-US" altLang="en-US" dirty="0">
                <a:latin typeface="Arial" panose="020B0604020202020204" pitchFamily="34" charset="0"/>
              </a:rPr>
              <a:t> – </a:t>
            </a:r>
            <a:r>
              <a:rPr lang="en-US" altLang="en-US" dirty="0">
                <a:latin typeface="Arial" panose="020B0604020202020204" pitchFamily="34" charset="0"/>
                <a:hlinkClick r:id="rId4"/>
              </a:rPr>
              <a:t>https://docs.python.org/3/</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Pandas Documentation</a:t>
            </a:r>
            <a:r>
              <a:rPr lang="en-US" altLang="en-US" dirty="0">
                <a:latin typeface="Arial" panose="020B0604020202020204" pitchFamily="34" charset="0"/>
              </a:rPr>
              <a:t> – </a:t>
            </a:r>
            <a:r>
              <a:rPr lang="en-US" altLang="en-US" dirty="0">
                <a:latin typeface="Arial" panose="020B0604020202020204" pitchFamily="34" charset="0"/>
                <a:hlinkClick r:id="rId5"/>
              </a:rPr>
              <a:t>https://pandas.pydata.org/</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Matplotlib Documentation</a:t>
            </a:r>
            <a:r>
              <a:rPr lang="en-US" altLang="en-US" dirty="0">
                <a:latin typeface="Arial" panose="020B0604020202020204" pitchFamily="34" charset="0"/>
              </a:rPr>
              <a:t> – </a:t>
            </a:r>
            <a:r>
              <a:rPr lang="en-US" altLang="en-US" dirty="0">
                <a:latin typeface="Arial" panose="020B0604020202020204" pitchFamily="34" charset="0"/>
                <a:hlinkClick r:id="rId6"/>
              </a:rPr>
              <a:t>https://matplotlib.org/stable/</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Kaggle Datasets (Indian Travel &amp; Tourism Data)</a:t>
            </a:r>
            <a:r>
              <a:rPr lang="en-US" altLang="en-US" dirty="0">
                <a:latin typeface="Arial" panose="020B0604020202020204" pitchFamily="34" charset="0"/>
              </a:rPr>
              <a:t> – </a:t>
            </a:r>
            <a:r>
              <a:rPr lang="en-US" altLang="en-US" dirty="0">
                <a:latin typeface="Arial" panose="020B0604020202020204" pitchFamily="34" charset="0"/>
                <a:hlinkClick r:id="rId7"/>
              </a:rPr>
              <a:t>https://www.kaggle.com/</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Open-source Indian travel resources and blogs</a:t>
            </a: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a:t>
            </a:r>
          </a:p>
          <a:p>
            <a:r>
              <a:rPr lang="en-IN" dirty="0"/>
              <a:t>Deployment Link: </a:t>
            </a:r>
            <a:r>
              <a:rPr lang="en-IN" dirty="0" err="1"/>
              <a:t>Streamlit</a:t>
            </a:r>
            <a:r>
              <a:rPr lang="en-IN" dirty="0"/>
              <a:t> or </a:t>
            </a:r>
            <a:r>
              <a:rPr lang="en-IN" dirty="0" err="1"/>
              <a:t>gradio</a:t>
            </a:r>
            <a:r>
              <a:rPr lang="en-IN" dirty="0"/>
              <a:t>  links</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1155</TotalTime>
  <Words>893</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Dev Raj</cp:lastModifiedBy>
  <cp:revision>38</cp:revision>
  <dcterms:created xsi:type="dcterms:W3CDTF">2021-05-26T16:50:10Z</dcterms:created>
  <dcterms:modified xsi:type="dcterms:W3CDTF">2026-01-27T10:32:16Z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